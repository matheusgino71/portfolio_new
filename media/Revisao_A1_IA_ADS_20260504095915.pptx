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389120"/>
            <a:ext cx="8778240" cy="7543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438912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USJT / UAM · Ânima Educação · 2026.1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50292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Fundamentos de 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14300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Representação do Conhecimento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78308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Lógica Fuzzy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42316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Árvores de Decisão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306324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IA Agêntica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370332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K-Means &amp; SOM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 que cai na A1?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Módulo 1: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Fundamentos de IA: conceitos, história, paradigmas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Módulo 2: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Representação do Conhecimento: SBC, DIKW, Sistemas Especialistas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6032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6032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Módulo 3: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Lógica Fuzzy: conjuntos, pertinência, inferência, defuzzificação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2900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4747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Módulo 4: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Avaliação de Modelos: Árvores de Decisão, entropia, ganho de informação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9768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9768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3434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Módulo 5: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IA Agêntica: agentes, RAG, MCP, tokens, automação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9A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371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história e paradigmas da Inteligência Artificial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Inteligência Artificial?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sistemas computacionais que executam tarefas cognitivas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841248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4028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refere-se a sistemas capazes de executar tarefas que, se realizadas por humanos, exigiriam inteligência. Inclui reconhecimento de padrões, linguagem natural, tomada de decisão e otimização. O foco está em RESOLVER PROBLEMAS — não em simular consciência.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79476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💡 Exemplo: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GitHub Copilot sugere código, sistemas detectam fraude em milissegundos, modelos de linguagem escrevem texto.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 vs. Realidade — IA Desmistificada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MITOS comuns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robôs conscientes e autônomos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vai substituir todo emprego imediatamente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'entende' como humanos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é sempre precisa e imparcial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precisa de hardware sobrehumano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REALIDADE técnica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algoritmos matemáticos sofisticados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automatiza tarefas cognitivas repetitivas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reconhece padrões estatísticos em dados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reflete os dados com que foi treinada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cloud acessível ou até smartphone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da IA — Ciclos Históricos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381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19456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2743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274320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Turing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Nascimento da 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75104" y="219456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1960-70s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5024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84448" y="219456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4368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Inverno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frustra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93792" y="219456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1990-00s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Kasparov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219456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Revolution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2194560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69748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da IA — Três Correntes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🔣  IA SIMBÓLICA (GOFAI): regras explícitas, lógica formal, sistemas especialistas. Transparente mas frágil em incerteza.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IA CONEXIONISTA: redes neurais, aprendizado por dados, deep learning. Poderosa mas caixa-preta.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IA HÍBRIDA: combina regras + aprendizado. Ex: RAG = recuperação (simbólico) + LLM (conexionista).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Para a prova: saber identificar qual paradigma se aplica a cada tecnologia estudada!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Árvores de Decisão = simbólico | K-Means = conexionista/estatístico | Agentes modernos = híbrido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QUESTÃO DE REVISÃO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de Turing avalia uma máquina pela sua capacidade de: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Processar cálculos matemáticos mais rápido que humanos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7004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Enganar um avaliador humano em conversa por texto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0156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Reconhecer imagens com 100% de precisão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Aprender de forma não supervisionada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9A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371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Conhecimento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SBC, Pirâmide DIKW e Sistemas Especialistas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Baseado em Conhecimento (SBC)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explícito + Mecanismo de Inferência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841248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4028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SBC usa conhecimento explicitamente representado — fornecido por especialistas — para resolver problemas complexos. O diferencial: o CONHECIMENTO é separado do mecanismo de raciocínio, permitindo explicar 'por quê' uma conclusão foi alcançada.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79476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💡 Exemplo: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MYCIN (1976): diagnosticava infecções com ~600 regras IF-THEN. Desempenho comparável a especialistas humanos.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um SBC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Base de Conhecimento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+ Regras + Heurísticas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declarativo (o quê)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procedimental (como)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 via regras, ontologias, frames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Mecanismo de Inferência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Chaining: fatos → conclusões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Chaining: hipótese → evidências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'Motor de raciocínio' do sistema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ciclo reconhecer-agir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02336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Interface com Usuário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consultas do usuário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conclusões e justificativas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explicação: responde 'por quê?'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SBC de caixa-preta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80360"/>
            <a:ext cx="40233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Base de Fatos (Memória)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atual do problema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contexto da consulta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inferências anteriores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Atualizada dinamicamente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Pirâmide DIKW — Dado → Informação → Conhecimento → Sabedoria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7772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868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SABEDORIA — Juízo ético e contextual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645920"/>
            <a:ext cx="4572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6916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— Contexto aplicado com regras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5146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— Dados com significado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— Símbolos brutos sem interpretação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"37,8" → "37,8°C do paciente" → "febre infecciosa" → "considerar histórico antes de antibiótico"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Representação — Comparativo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REGRAS DE PRODUÇÃO (IF→THEN): simples, interpretável, base dos sistemas especialistas. Ex: SE temp&gt;30 ENTÃO ligar_AC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REDES SEMÂNTICAS: grafos de conceitos conectados. Representam relações semânticas entre entidades.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FRAMES: estruturas tipo objeto com slots e valores. Herança de propriedades.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ÁRVORES DE DECISÃO: hierarquia de testes sobre atributos. Interpretável e visual.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LÓGICA FUZZY: lida com incerteza e gradações. Variáveis linguísticas com graus de pertinência.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Critérios de avaliação: Expressividade | Complexidade computacional | Interpretabilidade | Escalabilidade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QUESTÃO DE REVISÃO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encadeamento para frente (Forward Chaining), o raciocínio: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Parte de uma hipótese e busca evidências que a confirmem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7004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Parte dos fatos disponíveis para derivar novas conclusões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0156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Busca sempre a solução ótima garantida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Usa apenas regras de probabilidade bayesiana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9A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371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fuzzy, funções de pertinência, inferência e defuzzificação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Clássico vs. Fuzzy — Diferença Fundamental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Conjunto CLÁSSICO (Crisp)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Pertinência: 0 ou 1 (binário)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meio-termo: pertence ou não pertence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= idade ≥ 18 (exato)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anos → NÃO pertence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anos → SIM pertence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Rigidez: ignora gradações reais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Conjunto FUZZY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Pertinência: qualquer valor em [0, 1]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Graus parciais de pertinência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'Jovem' = grau de pertinência variável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anos → pertinência 0,8 em 'jovem'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anos → pertinência 0,3 em 'jovem'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nuances do raciocínio humano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Pertinência — Tipos e Fórmulas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840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TRIANGULAR — parâmetros (a, b, 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0 se x ≤ a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(x−a)/(b−a) se a &lt; x ≤ b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(c−x)/(c−b) se b &lt; x ≤ c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0 se x &gt; c
</a:t>
            </a:r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</a:rPr>
              <a:t>Pico em b onde μ = 1. Ideal para conceitos com valor central claro.
</a:t>
            </a:r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</a:rPr>
              <a:t>Ex: 'temperatura média' com pico em 25°C.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41248"/>
            <a:ext cx="3840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⏢ TRAPEZOIDAL — parâmetros (a, b, c, 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0 se x ≤ a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(x−a)/(b−a) se a &lt; x ≤ b
</a:t>
            </a:r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μ(x) = 1 se b &lt; x ≤ c (platô)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(d−x)/(d−c) se c &lt; x ≤ d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μ(x) = 0 se x &gt; d
</a:t>
            </a:r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</a:rPr>
              <a:t>Platô de certeza total entre b e c.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</a:rPr>
              <a:t>Ex: 'velocidade segura' entre 60 e 80 km/h.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Conjuntos Fuzzy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 (OR):  μ_{A∪B}(x) = max(μ_A(x), μ_B(x))  →  pega o MAIOR grau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INTERSEÇÃO  (AND):  μ_{A∩B}(x) = min(μ_A(x), μ_B(x))  →  pega o MENOR grau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 (NOT):  μ_Ā(x) = 1 − μ_A(x)  →  inverte a pertinência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μ_quente(25°C) = 0,6  e  μ_úmido(25°C) = 0,8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AND: min(0,6 ; 0,8) = 0,6   |   OR: max(0,6 ; 0,8) = 0,8   |   NOT quente: 1 − 0,6 = 0,4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Diferença de probabilidade: pertinência é grau de verdade, NÃO de chance!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Inferência Fuzzy (Mamdani)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640080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86384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4358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 nítido → graus de pertinência nas funções de cada conjunto fuzzy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64008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1828800"/>
            <a:ext cx="786384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das Regras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24942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IF-THEN: aplica AND/OR/NOT às premissas, calcula ativação de cada regra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64008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346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5840" y="2834640"/>
            <a:ext cx="786384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25526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os resultados de todas as regras num único conjunto fuzzy de saída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64008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404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5840" y="3840480"/>
            <a:ext cx="786384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6110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fuzzy → valor nítido. Métodos: Centróide (CoG), Máximo, Média dos Máximos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QUESTÃO DE REVISÃO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operação fuzzy corresponde ao conector lógico AND?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Máximo dos graus de pertinência dos conjuntos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7004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Complemento: 1 − μ(x)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0156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Mínimo dos graus de pertinência dos conjuntos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Média aritmética dos graus de pertinência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9A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371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Entropia, Ganho de Informação e Algoritmo ID3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 — Conceitos Fundamentais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representação hierárquico: nó raiz → nós internos (testes) → folhas (decisões/classes)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ID3: escolhe o atributo com MAIOR Ganho de Informação para dividir os dados em cada nó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ENTROPIA: mede impureza/desordem de um conjunto. H(S) = −Σ pᵢ · log₂(pᵢ)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 = 0: conjunto puro (todos da mesma classe)  |  H = 1: máxima desordem (50/50 em binário)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INFORMAÇÃO: GI(S, A) = H(S) − Σ (|Sv|/|S|) · H(Sv)  →  quanto A reduz a entropia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árvore muito profunda memoriza treino mas não generaliza → solução: PODA (pruning)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— Fórmula e Interpretação Visual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18872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H(S) = −Σ pᵢ · log₂(pᵢ)     onde pᵢ = proporção de exemplos da classe 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508760" cy="2651760"/>
          </a:xfrm>
          <a:prstGeom prst="rect">
            <a:avLst/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1508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03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2103120"/>
            <a:ext cx="1508760" cy="265176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2103120"/>
            <a:ext cx="150876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103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0,72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2103120"/>
            <a:ext cx="1508760" cy="2651760"/>
          </a:xfrm>
          <a:prstGeom prst="rect">
            <a:avLst/>
          </a:prstGeom>
          <a:solidFill>
            <a:srgbClr val="EAF4FB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2103120"/>
            <a:ext cx="150876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103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1,0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(Máximo)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0680" y="2103120"/>
            <a:ext cx="1508760" cy="265176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2103120"/>
            <a:ext cx="150876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103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0,72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NÃO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2103120"/>
            <a:ext cx="1508760" cy="2651760"/>
          </a:xfrm>
          <a:prstGeom prst="rect">
            <a:avLst/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2103120"/>
            <a:ext cx="1508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103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(Puro)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265176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Quanto MENOR a entropia após a divisão, MELHOR o atributo escolhido pelo ID3!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Comparativo: Árvore de Decisão vs. Lógica Fuzzy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Tipo de dado: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Árvore → discreto/categórico | Fuzzy → contínuo com imprecisão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Interpretabilidade: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Árvore → muito alta (visual) | Fuzzy → alta (linguagem natural)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6032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6032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Incerteza: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Árvore → não lida nativamente | Fuzzy → especialidade: graus de verdade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2900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4747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Complexidade: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Árvore → O(n log n) treino | Fuzzy → regras manuais de especialista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97680"/>
            <a:ext cx="640080" cy="7498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9768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3434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Uso típico: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Árvore → classificação, triagem | Fuzzy → controle, diagnóstico, sistemas embarcados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QUESTÃO DE REVISÃO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conjunto com 9 positivos e 9 negativos, a Entropia H(S) é: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 = 0,0 (conjunto completamente puro)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7004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 = 0,5 (metade da desordem máxima)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0156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 = 1,0 (máxima desordem para classificação binária)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 = 2,0 (desordem acima do máximo binário)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9A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371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Agentes, Tokens, RAG, MCP e Automação de Processos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Tradicional vs. IA Agêntica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MODELO REATIVO (Tradicional)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pontualmente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memória entre sessões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uma tarefa por vez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humano para agir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texto ou dado fixo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ChatGPT sem plugins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MODELO AUTÔNOMO (Agêntico)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 → Raciocina → 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contexto e memória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 e executa multi-etapas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ferramentas: APIs, buscas, código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Observar → Pensar → Agir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Agente de compras autônomo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 da IA Agêntica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TOKEN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mínima de texto para LLMs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~0,75 palavras em inglês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custo e contexto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= limite de tokens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RAG — Retrieval-Augmented 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documentos relevantes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no contexto do LLM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alucinações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conhecimento atualizada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02336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MCP — Model Context Protocol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padrão de ferramentas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LLMs a APIs e serviços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agentes multi-ferramenta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Anthropic/Claude, Cursor, etc.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80360"/>
            <a:ext cx="40233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Loop do Agente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PERCEBER: observa ambiente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RACIOCINAR: Chain-of-Thought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AGIR: chama ferramentas/APIs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OBSERVAR: avalia e itera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vs. Agente — Diferença Fundamental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ASSISTENTE: interface conversacional que amplifica capacidade humana.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Responde em linguagem natural, humano MANTÉM controle, IA SUGERE.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Exemplos: ChatGPT, Claude, Gemini, Copilot (sem plugins/tools ativos)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AGENTE: sistema autônomo que percebe, raciocina e executa ações no mundo.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Loop contínuo: Perceber → Raciocinar → Agir → Observar (sem intervenção humana por etapa)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Usa ferramentas reais: executa código, chama APIs, lê/escreve arquivos, navega web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Chave para a prova: assistente = sugere | agente = executa autonomamente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QUESTÃO DE REVISÃO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RAG (Retrieval-Augmented Generation) resolve principalmente?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Aumenta a velocidade de processamento de tokens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7004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Permite que LLMs acessem dados atuais/privados sem retreinamento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0156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Cria agentes autônomos multi-etapa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Define o protocolo de comunicação entre LLMs e APIs externas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9A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3716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SOM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não supervisionado, Elbow Method e Mapas Auto-Organizáveis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Supervisionado vs. Não Supervisionado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SUPERVISIONADO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 rótulos (labels)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Aprende: entrada → saída esperada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Tarefas: classificação, regressão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KNN, SVM, Árvore de Decisão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Avaliação: acurácia, F1, MSE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anotação humana dos dados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023360" cy="411480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NÃO SUPERVISIONADO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rótulos — encontra estrutura oculta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agrupar por similaridade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Tarefas: clustering, redução dimensional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K-Means, SOM, DBSCAN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Avaliação: Silhouette, Davies-Bouldin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exige anotação manual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K-Means — 4 Passos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Inicialização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K centróides aleatoriamente no espaço de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02336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26080"/>
            <a:ext cx="40233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Atribuição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é atribuído ao centróide mais próximo (distância Euclidiana)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02336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Atualização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371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centróides como média dos pontos atribuídos a cada cluster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02336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26080"/>
            <a:ext cx="40233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Convergência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passos 2-3 até centróides estabilizarem ou atingir max_iter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 é hiperparâmetro manual | Sensível a outliers | Sempre converte para mínimo local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— Escolhendo K Ideal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como saber o valor certo de K (número de clusters)?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Elbow Method — plota a inércia (WCSS) para diferentes valores de 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Inércia = soma das distâncias quadráticas de cada ponto ao seu centróide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Gráfico: inércia diminui com K crescente. O 'cotovelo' indica o K ótimo.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cotovelo: adicionar mais clusters traz pouco ganho. Ponto de equilíbrio.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Limitações do K-Means: assume clusters esféricos, sensível a outliers, escala importa!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Mapas Auto-Organizáveis (Kohonen)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Não Supervisionada + Topologia Preservada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841248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4028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SOM (Self-Organizing Map) é uma rede neural que aprende a mapear dados de alta dimensão para uma grade 2D preservando a topologia: dados similares ficam próximos no mapa. O neurônio vencedor (BMU) e seus vizinhos são atualizados a cada amostra de treino.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79476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💡 Exemplo: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Visualizar clusters de clientes em mapa 2D; identificar padrões em dados de sensores IoT; agrupar documentos por tema.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Avaliação de Clustering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Silhouette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de -1 a +1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de +1 = cluster bem definido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sobreposição entre clusters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= pontos no cluster errado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Davies-Bouldin Index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valor = melhor clustering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razão: dispersão interna / separação entre clusters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= 0 é o ideal (clusters separados e compactos)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requer rótulos reais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02336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Inércia (WCSS)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distâncias² ao centróide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diminui com mais clusters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Sozinha não é suficiente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no Elbow Method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02336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80360"/>
            <a:ext cx="40233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Comparativo Geral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rápido, clusters esféricos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topologia, alta dimensão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formas arbitrárias, outliers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Hierárquico: dendrograma visual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QUESTÃO DE REVISÃO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Elbow Method é utilizado para: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Determinar a taxa de aprendizado ideal em redes neurais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7004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Avaliar a acurácia de um classificador supervisionado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0156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Escolher o número ideal de clusters K no algoritmo K-Means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Calcular o índice de Silhouette para validar agrupamentos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MAPA MENTAL DA A1 — Conectando os Tópicos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= automação cognitiva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Turing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Paradigmas: Simbólico,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Conexionista, Híbrido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Repres. Conhec.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1704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SBC: Base + Motor +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DIKW: Dado→Sabedoria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Forward/Backward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777240"/>
            <a:ext cx="27432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Lógica Fuzzy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1704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fuzzy [0,1]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Funções: triangular,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trapez. | AND=min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OR=max | Mamdani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94560"/>
            <a:ext cx="27432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94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Árvores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58775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ID3: max Ganho Info.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H(S)=−Σp·log₂p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H=0 puro | H=1 desordem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Ovefitting → poda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19456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194560"/>
            <a:ext cx="2743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194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IA Agêntica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58775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Agente: Perceber→Agir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unidade LLM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dados externos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protocolo tools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19456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19456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94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K-Means &amp; SOM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58775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4 passos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→ 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mapa 2D topol.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[-1, +1]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8595360" cy="6400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611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Boa prova! Revise exemplos práticos, fórmulas de entropia e pipeline fuzzy. Você consegue!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A1 — Inteligência Artificial ADS</dc:title>
  <dc:subject>PptxGenJS Presentation</dc:subject>
  <dc:creator>PptxGenJS</dc:creator>
  <cp:lastModifiedBy>PptxGenJS</cp:lastModifiedBy>
  <cp:revision>1</cp:revision>
  <dcterms:created xsi:type="dcterms:W3CDTF">2026-04-27T20:21:55Z</dcterms:created>
  <dcterms:modified xsi:type="dcterms:W3CDTF">2026-04-27T20:21:55Z</dcterms:modified>
</cp:coreProperties>
</file>